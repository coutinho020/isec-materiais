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76" r:id="rId5"/>
    <p:sldId id="259" r:id="rId6"/>
    <p:sldId id="260" r:id="rId7"/>
    <p:sldId id="266" r:id="rId8"/>
    <p:sldId id="261" r:id="rId9"/>
    <p:sldId id="267" r:id="rId10"/>
    <p:sldId id="262" r:id="rId11"/>
    <p:sldId id="268" r:id="rId12"/>
    <p:sldId id="269" r:id="rId13"/>
    <p:sldId id="263" r:id="rId14"/>
    <p:sldId id="270" r:id="rId15"/>
    <p:sldId id="271" r:id="rId16"/>
    <p:sldId id="272" r:id="rId17"/>
    <p:sldId id="264" r:id="rId18"/>
    <p:sldId id="273" r:id="rId19"/>
    <p:sldId id="274" r:id="rId20"/>
    <p:sldId id="275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39FE8-CCD2-447E-9D52-8DAF8D8CA6B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F11BA-F374-4764-8BCE-548D92A86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21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F11BA-F374-4764-8BCE-548D92A8636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3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B1851-D5EC-5260-1A0F-AB5D79DD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7289D-473D-944B-0633-C09CEAB86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71842A-A8E0-BF9E-7FCA-57A50F88B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CFF8E-8627-8D3C-F95F-4782F2998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5F11BA-F374-4764-8BCE-548D92A8636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59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06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85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4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8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73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720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64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5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03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2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37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2744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16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7636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64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39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68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42EB592-B4E1-4580-951E-298C868C644A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D96EAAD-65DA-46CA-B365-301D23B02E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60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16001E7B-70E9-DF06-C95E-E6482A88D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F273B8-F6FE-4605-906C-502EDB2C0147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3FE2B4-E58F-184C-B7CD-68456D3316EE}"/>
              </a:ext>
            </a:extLst>
          </p:cNvPr>
          <p:cNvSpPr/>
          <p:nvPr/>
        </p:nvSpPr>
        <p:spPr>
          <a:xfrm>
            <a:off x="3126556" y="1171279"/>
            <a:ext cx="5938886" cy="4515439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6058F-457C-61BC-452E-F7EB6E20C71C}"/>
              </a:ext>
            </a:extLst>
          </p:cNvPr>
          <p:cNvSpPr txBox="1"/>
          <p:nvPr/>
        </p:nvSpPr>
        <p:spPr>
          <a:xfrm>
            <a:off x="3825489" y="2362878"/>
            <a:ext cx="45410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Splunk SIEM</a:t>
            </a:r>
          </a:p>
          <a:p>
            <a:r>
              <a:rPr lang="en-US" sz="2000" b="1" dirty="0"/>
              <a:t>Diogo </a:t>
            </a:r>
            <a:r>
              <a:rPr lang="en-US" b="1" dirty="0"/>
              <a:t>Antunes &amp; Duarte Rodrigues</a:t>
            </a:r>
          </a:p>
          <a:p>
            <a:r>
              <a:rPr lang="en-US" sz="2000" b="1" dirty="0"/>
              <a:t>ISEC – LEI</a:t>
            </a:r>
          </a:p>
          <a:p>
            <a:r>
              <a:rPr lang="en-US" sz="2000" b="1" dirty="0"/>
              <a:t>Coimbra, Junho de 2025</a:t>
            </a:r>
          </a:p>
        </p:txBody>
      </p:sp>
    </p:spTree>
    <p:extLst>
      <p:ext uri="{BB962C8B-B14F-4D97-AF65-F5344CB8AC3E}">
        <p14:creationId xmlns:p14="http://schemas.microsoft.com/office/powerpoint/2010/main" val="2654250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8D83C-F953-756B-329F-EB36FF9D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79B6CE32-8844-7528-E2B4-8B2AB84BF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C2BCB2-98CD-6CF4-2972-89B6E636AD2F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802C58-B116-148E-A7EF-2277E63F3E96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468286-5B86-240E-36A5-3284908F68C7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B0B45-4ADD-62F2-D1D3-9E361741CBA7}"/>
              </a:ext>
            </a:extLst>
          </p:cNvPr>
          <p:cNvSpPr txBox="1"/>
          <p:nvPr/>
        </p:nvSpPr>
        <p:spPr>
          <a:xfrm>
            <a:off x="480767" y="438346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Objetivos</a:t>
            </a:r>
            <a:r>
              <a:rPr lang="en-US" sz="4000" b="1" dirty="0"/>
              <a:t> do </a:t>
            </a:r>
            <a:r>
              <a:rPr lang="en-US" sz="4000" b="1" dirty="0" err="1"/>
              <a:t>Projeto</a:t>
            </a:r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99A712-0A35-E5C5-4017-FF37EB442EE0}"/>
              </a:ext>
            </a:extLst>
          </p:cNvPr>
          <p:cNvSpPr txBox="1"/>
          <p:nvPr/>
        </p:nvSpPr>
        <p:spPr>
          <a:xfrm>
            <a:off x="480767" y="2357654"/>
            <a:ext cx="1118961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Usar o Splunk para </a:t>
            </a:r>
            <a:r>
              <a:rPr lang="en-US" sz="3200" dirty="0" err="1"/>
              <a:t>recolher</a:t>
            </a:r>
            <a:r>
              <a:rPr lang="en-US" sz="3200" dirty="0"/>
              <a:t>, indexer, </a:t>
            </a:r>
            <a:r>
              <a:rPr lang="en-US" sz="3200" dirty="0" err="1"/>
              <a:t>analisar</a:t>
            </a:r>
            <a:r>
              <a:rPr lang="en-US" sz="3200" dirty="0"/>
              <a:t> e </a:t>
            </a:r>
            <a:r>
              <a:rPr lang="en-US" sz="3200" dirty="0" err="1"/>
              <a:t>visualizar</a:t>
            </a:r>
            <a:r>
              <a:rPr lang="en-US" sz="3200" dirty="0"/>
              <a:t> dados de logs.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Detetar</a:t>
            </a:r>
            <a:r>
              <a:rPr lang="en-US" sz="3200" dirty="0"/>
              <a:t> </a:t>
            </a:r>
            <a:r>
              <a:rPr lang="en-US" sz="3200" dirty="0" err="1"/>
              <a:t>falhas</a:t>
            </a:r>
            <a:r>
              <a:rPr lang="en-US" sz="3200" dirty="0"/>
              <a:t> de </a:t>
            </a:r>
            <a:r>
              <a:rPr lang="en-US" sz="3200" dirty="0" err="1"/>
              <a:t>segurança</a:t>
            </a:r>
            <a:r>
              <a:rPr lang="en-US" sz="3200" dirty="0"/>
              <a:t> e </a:t>
            </a:r>
            <a:r>
              <a:rPr lang="en-US" sz="3200" dirty="0" err="1"/>
              <a:t>simular</a:t>
            </a:r>
            <a:r>
              <a:rPr lang="en-US" sz="3200" dirty="0"/>
              <a:t> </a:t>
            </a:r>
            <a:r>
              <a:rPr lang="en-US" sz="3200" dirty="0" err="1"/>
              <a:t>ataques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Integrar</a:t>
            </a:r>
            <a:r>
              <a:rPr lang="en-US" sz="3200" dirty="0"/>
              <a:t> </a:t>
            </a:r>
            <a:r>
              <a:rPr lang="en-US" sz="3200" dirty="0" err="1"/>
              <a:t>funcionalidades</a:t>
            </a:r>
            <a:r>
              <a:rPr lang="en-US" sz="3200" dirty="0"/>
              <a:t> do Splunk </a:t>
            </a:r>
            <a:r>
              <a:rPr lang="en-US" sz="3200" dirty="0" err="1"/>
              <a:t>em</a:t>
            </a:r>
            <a:r>
              <a:rPr lang="en-US" sz="3200" dirty="0"/>
              <a:t> ambientes </a:t>
            </a:r>
            <a:r>
              <a:rPr lang="en-US" sz="3200" dirty="0" err="1"/>
              <a:t>realistas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4873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0F2AC-3600-9B97-4DB1-3D3B46E84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E6030E14-42B2-ABBC-CCBE-C18A69514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694CA6-914A-997E-4F04-B504C711E12B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F7D6ED-FEEB-05F6-89E8-71AAED541C55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A73A70-74F3-6F31-F171-0899C875050A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08923-2309-EBC0-C77F-7DBE3A42DB6A}"/>
              </a:ext>
            </a:extLst>
          </p:cNvPr>
          <p:cNvSpPr txBox="1"/>
          <p:nvPr/>
        </p:nvSpPr>
        <p:spPr>
          <a:xfrm>
            <a:off x="480767" y="438346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O que é o Splunk?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04338-0B18-6F08-ABFD-B1FABFCDACA7}"/>
              </a:ext>
            </a:extLst>
          </p:cNvPr>
          <p:cNvSpPr txBox="1"/>
          <p:nvPr/>
        </p:nvSpPr>
        <p:spPr>
          <a:xfrm>
            <a:off x="480767" y="1831539"/>
            <a:ext cx="1118961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Plataforma de </a:t>
            </a:r>
            <a:r>
              <a:rPr lang="en-US" sz="3200" dirty="0" err="1"/>
              <a:t>análise</a:t>
            </a:r>
            <a:r>
              <a:rPr lang="en-US" sz="3200" dirty="0"/>
              <a:t> de dados de </a:t>
            </a:r>
            <a:r>
              <a:rPr lang="en-US" sz="3200" dirty="0" err="1"/>
              <a:t>máquina</a:t>
            </a:r>
            <a:r>
              <a:rPr lang="en-US" sz="3200" dirty="0"/>
              <a:t> (logs).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Processa</a:t>
            </a:r>
            <a:r>
              <a:rPr lang="en-US" sz="3200" dirty="0"/>
              <a:t> logs de </a:t>
            </a:r>
            <a:r>
              <a:rPr lang="en-US" sz="3200" dirty="0" err="1"/>
              <a:t>sistemas</a:t>
            </a:r>
            <a:r>
              <a:rPr lang="en-US" sz="3200" dirty="0"/>
              <a:t>, </a:t>
            </a:r>
            <a:r>
              <a:rPr lang="en-US" sz="3200" dirty="0" err="1"/>
              <a:t>servidores</a:t>
            </a:r>
            <a:r>
              <a:rPr lang="en-US" sz="3200" dirty="0"/>
              <a:t>, </a:t>
            </a:r>
            <a:r>
              <a:rPr lang="en-US" sz="3200" dirty="0" err="1"/>
              <a:t>aplicações</a:t>
            </a:r>
            <a:r>
              <a:rPr lang="en-US" sz="3200" dirty="0"/>
              <a:t> entre outros.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Usa a </a:t>
            </a:r>
            <a:r>
              <a:rPr lang="en-US" sz="3200" dirty="0" err="1"/>
              <a:t>Linguagem</a:t>
            </a:r>
            <a:r>
              <a:rPr lang="en-US" sz="3200" dirty="0"/>
              <a:t> SPL (Search Processing Language).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Interpreta</a:t>
            </a:r>
            <a:r>
              <a:rPr lang="en-US" sz="3200" dirty="0"/>
              <a:t> </a:t>
            </a:r>
            <a:r>
              <a:rPr lang="en-US" sz="3200" dirty="0" err="1"/>
              <a:t>automaticamente</a:t>
            </a:r>
            <a:r>
              <a:rPr lang="en-US" sz="3200" dirty="0"/>
              <a:t> </a:t>
            </a:r>
            <a:r>
              <a:rPr lang="en-US" sz="3200" dirty="0" err="1"/>
              <a:t>diferentes</a:t>
            </a:r>
            <a:r>
              <a:rPr lang="en-US" sz="3200" dirty="0"/>
              <a:t> </a:t>
            </a:r>
            <a:r>
              <a:rPr lang="en-US" sz="3200" dirty="0" err="1"/>
              <a:t>formatos</a:t>
            </a:r>
            <a:r>
              <a:rPr lang="en-US" sz="3200" dirty="0"/>
              <a:t> de dados </a:t>
            </a:r>
            <a:r>
              <a:rPr lang="en-US" sz="3200" dirty="0" err="1"/>
              <a:t>não</a:t>
            </a:r>
            <a:r>
              <a:rPr lang="en-US" sz="3200" dirty="0"/>
              <a:t> </a:t>
            </a:r>
            <a:r>
              <a:rPr lang="en-US" sz="3200" dirty="0" err="1"/>
              <a:t>estruturados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3380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3729E-1999-3F09-3BE6-D55BFEE1A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459550CF-F1F8-B501-8040-D45A20580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C2407CB-A225-54C9-2B47-A87E1DA24569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F6F86E-9B87-3ECA-B1C3-7A215184D39C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8171AB-785A-BD38-31B2-E0EE9352E90A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12B69-990D-2E0B-1868-7C7E8B9EF449}"/>
              </a:ext>
            </a:extLst>
          </p:cNvPr>
          <p:cNvSpPr txBox="1"/>
          <p:nvPr/>
        </p:nvSpPr>
        <p:spPr>
          <a:xfrm>
            <a:off x="480767" y="438346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O que é o Splunk?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BE6BE8D-875D-EE34-8FB8-05EB262D2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530" y="2249326"/>
            <a:ext cx="5324937" cy="3756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551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1A93E-51C4-2F74-A66D-0DCA4E238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1883873A-6CE2-CD1F-C596-218A5433B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3CAAD9-1D44-2FC1-875E-4034CCB41907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3D96AC-F533-72EA-5795-57D2BB3C88B7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F0B121-27E0-55C0-26CB-0A54BE68F7A3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600FC-F54D-AE16-FA9B-A4A540365DE6}"/>
              </a:ext>
            </a:extLst>
          </p:cNvPr>
          <p:cNvSpPr txBox="1"/>
          <p:nvPr/>
        </p:nvSpPr>
        <p:spPr>
          <a:xfrm>
            <a:off x="480767" y="438346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Funcionaliades</a:t>
            </a:r>
            <a:r>
              <a:rPr lang="en-US" sz="4000" b="1" dirty="0"/>
              <a:t> </a:t>
            </a:r>
            <a:r>
              <a:rPr lang="en-US" sz="4000" b="1" dirty="0" err="1"/>
              <a:t>Principais</a:t>
            </a:r>
            <a:r>
              <a:rPr lang="en-US" sz="4000" b="1" dirty="0"/>
              <a:t> do Splunk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15ED3-674B-8ED3-3E2C-87B5DEFA4D8A}"/>
              </a:ext>
            </a:extLst>
          </p:cNvPr>
          <p:cNvSpPr txBox="1"/>
          <p:nvPr/>
        </p:nvSpPr>
        <p:spPr>
          <a:xfrm>
            <a:off x="480767" y="1913473"/>
            <a:ext cx="111896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Coleta de dados via Forwarders, syslog e </a:t>
            </a:r>
            <a:r>
              <a:rPr lang="en-US" sz="3200" dirty="0" err="1"/>
              <a:t>ficheiros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Armazenamento</a:t>
            </a:r>
            <a:r>
              <a:rPr lang="en-US" sz="3200" dirty="0"/>
              <a:t> </a:t>
            </a:r>
            <a:r>
              <a:rPr lang="en-US" sz="3200" dirty="0" err="1"/>
              <a:t>organizado</a:t>
            </a:r>
            <a:r>
              <a:rPr lang="en-US" sz="3200" dirty="0"/>
              <a:t> </a:t>
            </a:r>
            <a:r>
              <a:rPr lang="en-US" sz="3200" dirty="0" err="1"/>
              <a:t>em</a:t>
            </a:r>
            <a:r>
              <a:rPr lang="en-US" sz="3200" dirty="0"/>
              <a:t> Buckets.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Dashboard </a:t>
            </a:r>
            <a:r>
              <a:rPr lang="en-US" sz="3200" dirty="0" err="1"/>
              <a:t>interativo</a:t>
            </a:r>
            <a:r>
              <a:rPr lang="en-US" sz="3200" dirty="0"/>
              <a:t> com </a:t>
            </a:r>
            <a:r>
              <a:rPr lang="en-US" sz="3200" dirty="0" err="1"/>
              <a:t>gráficos</a:t>
            </a:r>
            <a:r>
              <a:rPr lang="en-US" sz="3200" dirty="0"/>
              <a:t> e </a:t>
            </a:r>
            <a:r>
              <a:rPr lang="en-US" sz="3200" dirty="0" err="1"/>
              <a:t>tabelas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Alertas</a:t>
            </a:r>
            <a:r>
              <a:rPr lang="en-US" sz="3200" dirty="0"/>
              <a:t> </a:t>
            </a:r>
            <a:r>
              <a:rPr lang="en-US" sz="3200" dirty="0" err="1"/>
              <a:t>automáticos</a:t>
            </a:r>
            <a:r>
              <a:rPr lang="en-US" sz="3200" dirty="0"/>
              <a:t> </a:t>
            </a:r>
            <a:r>
              <a:rPr lang="en-US" sz="3200" dirty="0" err="1"/>
              <a:t>configuráveis</a:t>
            </a:r>
            <a:r>
              <a:rPr lang="en-US" sz="3200" dirty="0"/>
              <a:t> com </a:t>
            </a:r>
            <a:r>
              <a:rPr lang="en-US" sz="3200" dirty="0" err="1"/>
              <a:t>ações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Escalabiliade</a:t>
            </a:r>
            <a:r>
              <a:rPr lang="en-US" sz="3200" dirty="0"/>
              <a:t> e alto </a:t>
            </a:r>
            <a:r>
              <a:rPr lang="en-US" sz="3200" dirty="0" err="1"/>
              <a:t>desempenho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17203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026D7-B184-4028-9738-8B028067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9E9790B1-BB50-D1BE-ED62-775593BF6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2EA1AC-8285-71FF-7439-6A0A32F695B8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2909EE-9B5D-053D-C364-3E95ED90ACC4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B9AC6-C8AC-ED54-D93E-A3364B80E6F2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E57881-426A-988D-116F-5D987928048B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Topologia</a:t>
            </a:r>
            <a:r>
              <a:rPr lang="en-US" sz="4000" b="1" dirty="0"/>
              <a:t> </a:t>
            </a:r>
            <a:r>
              <a:rPr lang="en-US" sz="4000" b="1" dirty="0" err="1"/>
              <a:t>utilizada</a:t>
            </a:r>
            <a:r>
              <a:rPr lang="en-US" sz="4000" b="1" dirty="0"/>
              <a:t> para as </a:t>
            </a:r>
            <a:r>
              <a:rPr lang="en-US" sz="4000" b="1" dirty="0" err="1"/>
              <a:t>experiências</a:t>
            </a:r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9D707-3A0A-6A37-488E-2E99726B7B0B}"/>
              </a:ext>
            </a:extLst>
          </p:cNvPr>
          <p:cNvSpPr txBox="1"/>
          <p:nvPr/>
        </p:nvSpPr>
        <p:spPr>
          <a:xfrm>
            <a:off x="457983" y="1618990"/>
            <a:ext cx="1118961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Simulado</a:t>
            </a:r>
            <a:r>
              <a:rPr lang="en-US" sz="3200" dirty="0"/>
              <a:t> </a:t>
            </a:r>
            <a:r>
              <a:rPr lang="en-US" sz="3200" dirty="0" err="1"/>
              <a:t>em</a:t>
            </a:r>
            <a:r>
              <a:rPr lang="en-US" sz="3200" dirty="0"/>
              <a:t> GNS3 com 1 Router, </a:t>
            </a:r>
            <a:r>
              <a:rPr lang="en-US" sz="3200" dirty="0" err="1"/>
              <a:t>uma</a:t>
            </a:r>
            <a:r>
              <a:rPr lang="en-US" sz="3200" dirty="0"/>
              <a:t> VM Windows 10, VM Kali Linux, </a:t>
            </a:r>
            <a:r>
              <a:rPr lang="en-US" sz="3200" dirty="0" err="1"/>
              <a:t>Webterm</a:t>
            </a:r>
            <a:r>
              <a:rPr lang="en-US" sz="3200" dirty="0"/>
              <a:t> e um </a:t>
            </a:r>
            <a:r>
              <a:rPr lang="en-US" sz="3200" dirty="0" err="1"/>
              <a:t>IPTerm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Todos </a:t>
            </a:r>
            <a:r>
              <a:rPr lang="en-US" sz="3200" dirty="0" err="1"/>
              <a:t>na</a:t>
            </a:r>
            <a:r>
              <a:rPr lang="en-US" sz="3200" dirty="0"/>
              <a:t> </a:t>
            </a:r>
            <a:r>
              <a:rPr lang="en-US" sz="3200" dirty="0" err="1"/>
              <a:t>mesma</a:t>
            </a:r>
            <a:r>
              <a:rPr lang="en-US" sz="3200" dirty="0"/>
              <a:t> rede com NAT e Splunk Server </a:t>
            </a:r>
            <a:r>
              <a:rPr lang="en-US" sz="3200" dirty="0" err="1"/>
              <a:t>em</a:t>
            </a:r>
            <a:r>
              <a:rPr lang="en-US" sz="3200" dirty="0"/>
              <a:t> Windows 10.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Router com SSH, HTTP e </a:t>
            </a:r>
            <a:r>
              <a:rPr lang="en-US" sz="3200" dirty="0" err="1"/>
              <a:t>utilizadores</a:t>
            </a:r>
            <a:r>
              <a:rPr lang="en-US" sz="3200" dirty="0"/>
              <a:t> </a:t>
            </a:r>
            <a:r>
              <a:rPr lang="en-US" sz="3200" dirty="0" err="1"/>
              <a:t>admina</a:t>
            </a:r>
            <a:r>
              <a:rPr lang="en-US" sz="3200" dirty="0"/>
              <a:t>, </a:t>
            </a:r>
            <a:r>
              <a:rPr lang="en-US" sz="3200" dirty="0" err="1"/>
              <a:t>adminb</a:t>
            </a:r>
            <a:r>
              <a:rPr lang="en-US" sz="3200" dirty="0"/>
              <a:t> e </a:t>
            </a:r>
            <a:r>
              <a:rPr lang="en-US" sz="3200" dirty="0" err="1"/>
              <a:t>webadmin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Logging </a:t>
            </a:r>
            <a:r>
              <a:rPr lang="en-US" sz="3200" dirty="0" err="1"/>
              <a:t>detalhado</a:t>
            </a:r>
            <a:r>
              <a:rPr lang="en-US" sz="3200" dirty="0"/>
              <a:t> </a:t>
            </a:r>
            <a:r>
              <a:rPr lang="en-US" sz="3200" dirty="0" err="1"/>
              <a:t>enviado</a:t>
            </a:r>
            <a:r>
              <a:rPr lang="en-US" sz="3200" dirty="0"/>
              <a:t> via UDP.</a:t>
            </a:r>
          </a:p>
        </p:txBody>
      </p:sp>
    </p:spTree>
    <p:extLst>
      <p:ext uri="{BB962C8B-B14F-4D97-AF65-F5344CB8AC3E}">
        <p14:creationId xmlns:p14="http://schemas.microsoft.com/office/powerpoint/2010/main" val="1150915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01257-7A9D-B0E3-8955-BDF7B2A4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C9603035-3C82-76FE-DC53-10E85BC76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DC3CF2-9EB3-315D-7169-FD1C705356D6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1FEA65-3F14-EA83-E217-47328ACB1EF7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AF4992-908E-219D-57A1-54659EFC41CC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0C233-4754-804B-C3C7-BA5D141E8789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Topologia</a:t>
            </a:r>
            <a:r>
              <a:rPr lang="en-US" sz="4000" b="1" dirty="0"/>
              <a:t> </a:t>
            </a:r>
            <a:r>
              <a:rPr lang="en-US" sz="4000" b="1" dirty="0" err="1"/>
              <a:t>utilizada</a:t>
            </a:r>
            <a:r>
              <a:rPr lang="en-US" sz="4000" b="1" dirty="0"/>
              <a:t> para as </a:t>
            </a:r>
            <a:r>
              <a:rPr lang="en-US" sz="4000" b="1" dirty="0" err="1"/>
              <a:t>experiências</a:t>
            </a:r>
            <a:endParaRPr lang="en-US" sz="40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43FA4A-C7C3-BE2A-A4CF-02B3F4D84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700" y="2013956"/>
            <a:ext cx="7076600" cy="425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739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73982-441F-F9DB-03B4-56BB7D69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B31568A8-8029-A7A1-DC9D-326EBB81D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7B1260-2642-B18A-F6D6-5552773A10F7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334227-DC0B-CC6F-D3FC-74D97A1EB182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3905C8-B12D-B449-3043-F8DE5197C07A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57B882-5410-5F9C-D2E2-A04E2135946A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1 – Logs do Router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6FF360-3CDA-A573-36A2-B9B2548BED8B}"/>
              </a:ext>
            </a:extLst>
          </p:cNvPr>
          <p:cNvSpPr txBox="1"/>
          <p:nvPr/>
        </p:nvSpPr>
        <p:spPr>
          <a:xfrm>
            <a:off x="457983" y="1862783"/>
            <a:ext cx="111896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Router </a:t>
            </a:r>
            <a:r>
              <a:rPr lang="en-US" sz="3200" dirty="0" err="1"/>
              <a:t>envia</a:t>
            </a:r>
            <a:r>
              <a:rPr lang="en-US" sz="3200" dirty="0"/>
              <a:t> logs via syslog (UDP:514) para o Splunk.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Indexação</a:t>
            </a:r>
            <a:r>
              <a:rPr lang="en-US" sz="3200" dirty="0"/>
              <a:t> </a:t>
            </a:r>
            <a:r>
              <a:rPr lang="en-US" sz="3200" dirty="0" err="1"/>
              <a:t>em</a:t>
            </a:r>
            <a:r>
              <a:rPr lang="en-US" sz="3200" dirty="0"/>
              <a:t> ‘</a:t>
            </a:r>
            <a:r>
              <a:rPr lang="en-US" sz="3200" dirty="0" err="1"/>
              <a:t>network_logs</a:t>
            </a:r>
            <a:r>
              <a:rPr lang="en-US" sz="3200" dirty="0"/>
              <a:t>’ e </a:t>
            </a:r>
            <a:r>
              <a:rPr lang="en-US" sz="3200" dirty="0" err="1"/>
              <a:t>visualização</a:t>
            </a:r>
            <a:r>
              <a:rPr lang="en-US" sz="3200" dirty="0"/>
              <a:t> com </a:t>
            </a:r>
            <a:r>
              <a:rPr lang="en-US" sz="3200" dirty="0" err="1"/>
              <a:t>filtros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Regras</a:t>
            </a:r>
            <a:r>
              <a:rPr lang="en-US" sz="3200" dirty="0"/>
              <a:t> de firewall </a:t>
            </a:r>
            <a:r>
              <a:rPr lang="en-US" sz="3200" dirty="0" err="1"/>
              <a:t>adicionadas</a:t>
            </a:r>
            <a:r>
              <a:rPr lang="en-US" sz="3200" dirty="0"/>
              <a:t> no Windows para ICMP e UDP:514.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Logs </a:t>
            </a:r>
            <a:r>
              <a:rPr lang="en-US" sz="3200" dirty="0" err="1"/>
              <a:t>incluem</a:t>
            </a:r>
            <a:r>
              <a:rPr lang="en-US" sz="3200" dirty="0"/>
              <a:t> SSH, HTTP e a </a:t>
            </a:r>
            <a:r>
              <a:rPr lang="en-US" sz="3200" dirty="0" err="1"/>
              <a:t>configurção</a:t>
            </a:r>
            <a:r>
              <a:rPr lang="en-US" sz="3200" dirty="0"/>
              <a:t> no Router.</a:t>
            </a:r>
          </a:p>
        </p:txBody>
      </p:sp>
    </p:spTree>
    <p:extLst>
      <p:ext uri="{BB962C8B-B14F-4D97-AF65-F5344CB8AC3E}">
        <p14:creationId xmlns:p14="http://schemas.microsoft.com/office/powerpoint/2010/main" val="236116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D9500-0FC0-724D-6497-77476E2F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94FBE84F-8014-5C13-33B6-244901F4D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9767B0-A0E0-EEF2-8673-EDB54DE13E0B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7E952B-C00F-3B19-4491-5F160BBB8EC4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201FCE-24AA-F289-BF69-81EC522A842A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A733C-E24E-916D-5AF9-E9E30EA8153C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1 – Logs do Router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B30FC7D-0666-5584-B0BF-2B801E5B3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6" y="1913472"/>
            <a:ext cx="5424404" cy="303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98BE4CD-F482-2670-FCBA-5C70495BD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749" y="2538202"/>
            <a:ext cx="3714750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626FFB8-8303-3674-FE5E-E12FFF5ED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718" y="3706275"/>
            <a:ext cx="6696075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319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4B4A2-EF4A-BA41-9992-39B31C4EF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618D3956-11B7-5203-2006-DE3CB52CD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EC9F8C-03E9-67F3-F1F6-0299A530E458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54DB03-EE6E-0314-5EC3-A747C7A6874A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5EAC78-B065-1D78-FBC5-CDC66A3091E1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A23A6-9BAD-8EB5-C318-4FEF8F68D8C2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2 - Logs do IIS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0E83C-3E21-29DE-9320-6FEF3AB2F6A3}"/>
              </a:ext>
            </a:extLst>
          </p:cNvPr>
          <p:cNvSpPr txBox="1"/>
          <p:nvPr/>
        </p:nvSpPr>
        <p:spPr>
          <a:xfrm>
            <a:off x="403339" y="1862783"/>
            <a:ext cx="111896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Uso do Universal Forwarder para logs do IIS via TCP:9997.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Indexação</a:t>
            </a:r>
            <a:r>
              <a:rPr lang="en-US" sz="3200" dirty="0"/>
              <a:t> no </a:t>
            </a:r>
            <a:r>
              <a:rPr lang="en-US" sz="3200" dirty="0" err="1"/>
              <a:t>índice</a:t>
            </a:r>
            <a:r>
              <a:rPr lang="en-US" sz="3200" dirty="0"/>
              <a:t> ‘main’, </a:t>
            </a:r>
            <a:r>
              <a:rPr lang="en-US" sz="3200" dirty="0" err="1"/>
              <a:t>sourcetype</a:t>
            </a:r>
            <a:r>
              <a:rPr lang="en-US" sz="3200" dirty="0"/>
              <a:t> = ‘</a:t>
            </a:r>
            <a:r>
              <a:rPr lang="en-US" sz="3200" dirty="0" err="1"/>
              <a:t>iis</a:t>
            </a:r>
            <a:r>
              <a:rPr lang="en-US" sz="3200" dirty="0"/>
              <a:t>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Logs </a:t>
            </a:r>
            <a:r>
              <a:rPr lang="en-US" sz="3200" dirty="0" err="1"/>
              <a:t>gerados</a:t>
            </a:r>
            <a:r>
              <a:rPr lang="en-US" sz="3200" dirty="0"/>
              <a:t> </a:t>
            </a:r>
            <a:r>
              <a:rPr lang="en-US" sz="3200" dirty="0" err="1"/>
              <a:t>por</a:t>
            </a:r>
            <a:r>
              <a:rPr lang="en-US" sz="3200" dirty="0"/>
              <a:t> </a:t>
            </a:r>
            <a:r>
              <a:rPr lang="en-US" sz="3200" dirty="0" err="1"/>
              <a:t>autenticação</a:t>
            </a:r>
            <a:r>
              <a:rPr lang="en-US" sz="3200" dirty="0"/>
              <a:t> </a:t>
            </a:r>
            <a:r>
              <a:rPr lang="en-US" sz="3200" dirty="0" err="1"/>
              <a:t>ao</a:t>
            </a:r>
            <a:r>
              <a:rPr lang="en-US" sz="3200" dirty="0"/>
              <a:t> 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Inicialmenmente</a:t>
            </a:r>
            <a:r>
              <a:rPr lang="en-US" sz="3200" dirty="0"/>
              <a:t> </a:t>
            </a:r>
            <a:r>
              <a:rPr lang="en-US" sz="3200" dirty="0" err="1"/>
              <a:t>ilegíveis</a:t>
            </a:r>
            <a:r>
              <a:rPr lang="en-US" sz="3200" dirty="0"/>
              <a:t> – no </a:t>
            </a:r>
            <a:r>
              <a:rPr lang="en-US" sz="3200" dirty="0" err="1"/>
              <a:t>entanto</a:t>
            </a:r>
            <a:r>
              <a:rPr lang="en-US" sz="3200" dirty="0"/>
              <a:t> </a:t>
            </a:r>
            <a:r>
              <a:rPr lang="en-US" sz="3200" dirty="0" err="1"/>
              <a:t>ao</a:t>
            </a:r>
            <a:r>
              <a:rPr lang="en-US" sz="3200" dirty="0"/>
              <a:t> </a:t>
            </a:r>
            <a:r>
              <a:rPr lang="en-US" sz="3200" dirty="0" err="1"/>
              <a:t>aceder</a:t>
            </a:r>
            <a:r>
              <a:rPr lang="en-US" sz="3200" dirty="0"/>
              <a:t> </a:t>
            </a:r>
            <a:r>
              <a:rPr lang="en-US" sz="3200" dirty="0" err="1"/>
              <a:t>aos</a:t>
            </a:r>
            <a:r>
              <a:rPr lang="en-US" sz="3200" dirty="0"/>
              <a:t> </a:t>
            </a:r>
            <a:r>
              <a:rPr lang="en-US" sz="3200" dirty="0" err="1"/>
              <a:t>detalhes</a:t>
            </a:r>
            <a:r>
              <a:rPr lang="en-US" sz="3200" dirty="0"/>
              <a:t> é </a:t>
            </a:r>
            <a:r>
              <a:rPr lang="en-US" sz="3200" dirty="0" err="1"/>
              <a:t>possível</a:t>
            </a:r>
            <a:r>
              <a:rPr lang="en-US" sz="3200" dirty="0"/>
              <a:t> </a:t>
            </a:r>
            <a:r>
              <a:rPr lang="en-US" sz="3200" dirty="0" err="1"/>
              <a:t>uma</a:t>
            </a:r>
            <a:r>
              <a:rPr lang="en-US" sz="3200" dirty="0"/>
              <a:t> </a:t>
            </a:r>
            <a:r>
              <a:rPr lang="en-US" sz="3200" dirty="0" err="1"/>
              <a:t>melhor</a:t>
            </a:r>
            <a:r>
              <a:rPr lang="en-US" sz="3200" dirty="0"/>
              <a:t> </a:t>
            </a:r>
            <a:r>
              <a:rPr lang="en-US" sz="3200" dirty="0" err="1"/>
              <a:t>compreensão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020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5E644-A30E-4971-C2F5-74C0C5CB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E4EA59B5-6521-82C3-B65F-7F63C81B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3229B2-2FD0-1973-83D3-FF1404D5D74B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0F972C-83AB-428F-39E6-09300FA5CA0A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18A10C-4ECC-7B5D-3A49-CC378BED39F3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385F7-5214-4555-7E0C-F7A0D704247D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2 - Logs do IIS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E8C7B91-8B2F-5500-A6B1-65E0E8836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84" y="1910189"/>
            <a:ext cx="620077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EFF566E-7260-402E-262C-80A415E34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46" y="4512583"/>
            <a:ext cx="573405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0E385B7-54ED-0A31-B1FF-9EA8B35A1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636" y="2859926"/>
            <a:ext cx="4010025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282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82198-8E09-DAF6-C57F-E31B8AC50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6FEBF14E-A1E6-04CB-4B4E-CDBE22A42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820F8E-5385-B001-1A47-CB781BCD40A0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5C353D-E5A2-7BEC-771B-1B7848DA65A4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87E1EB-6923-1610-5203-05879A8E6C14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8F020-28CC-E969-9607-F5EDB991A5C5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2 - Logs do IIS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E9F68E-5BE3-DC82-25E9-ABC9A9E22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9" y="1798786"/>
            <a:ext cx="4848225" cy="2516401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E62F2764-CF92-BB4D-F1A5-CCA515BFC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038" y="2468231"/>
            <a:ext cx="5824146" cy="3318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22B7E6F-D0F4-886C-8973-A26D0AA80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49" y="4386917"/>
            <a:ext cx="4997982" cy="203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163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A2863-417D-6430-3F48-A977E2FF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E8D1CABB-9FB6-CBB5-BB79-14A4B1D84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098B8CE-41C3-61B8-1EB6-6507277D9672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60DDA6-1B66-EBAE-357C-CADAE45D91DF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509225-3E6F-105D-3192-C2D5B4D9F782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A8165-B528-7E40-4CE3-476C14A14677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3 – Dashboards e </a:t>
            </a:r>
            <a:r>
              <a:rPr lang="en-US" sz="4000" b="1" dirty="0" err="1"/>
              <a:t>Otimização</a:t>
            </a:r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ED44D-C507-15F9-84E8-06DFF428AA83}"/>
              </a:ext>
            </a:extLst>
          </p:cNvPr>
          <p:cNvSpPr txBox="1"/>
          <p:nvPr/>
        </p:nvSpPr>
        <p:spPr>
          <a:xfrm>
            <a:off x="403339" y="1641835"/>
            <a:ext cx="1118961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Instalação</a:t>
            </a:r>
            <a:r>
              <a:rPr lang="en-US" sz="3200" dirty="0"/>
              <a:t> de Add-On da cisco para </a:t>
            </a:r>
            <a:r>
              <a:rPr lang="en-US" sz="3200" dirty="0" err="1"/>
              <a:t>melhorar</a:t>
            </a:r>
            <a:r>
              <a:rPr lang="en-US" sz="3200" dirty="0"/>
              <a:t> a </a:t>
            </a:r>
            <a:r>
              <a:rPr lang="en-US" sz="3200" dirty="0" err="1"/>
              <a:t>leitura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Campos </a:t>
            </a:r>
            <a:r>
              <a:rPr lang="en-US" sz="3200" dirty="0" err="1"/>
              <a:t>adicionais</a:t>
            </a:r>
            <a:r>
              <a:rPr lang="en-US" sz="3200" dirty="0"/>
              <a:t>: </a:t>
            </a:r>
            <a:r>
              <a:rPr lang="en-US" sz="3200" dirty="0" err="1"/>
              <a:t>source_ip</a:t>
            </a:r>
            <a:r>
              <a:rPr lang="en-US" sz="3200" dirty="0"/>
              <a:t>, username e </a:t>
            </a:r>
            <a:r>
              <a:rPr lang="en-US" sz="3200" dirty="0" err="1"/>
              <a:t>tipo</a:t>
            </a:r>
            <a:r>
              <a:rPr lang="en-US" sz="3200" dirty="0"/>
              <a:t> de </a:t>
            </a:r>
            <a:r>
              <a:rPr lang="en-US" sz="3200" dirty="0" err="1"/>
              <a:t>acesso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Criação</a:t>
            </a:r>
            <a:r>
              <a:rPr lang="en-US" sz="3200" dirty="0"/>
              <a:t> de dashboards com SPL </a:t>
            </a:r>
            <a:r>
              <a:rPr lang="en-US" sz="3200" dirty="0" err="1"/>
              <a:t>detalhando</a:t>
            </a:r>
            <a:r>
              <a:rPr lang="en-US" sz="3200" dirty="0"/>
              <a:t> </a:t>
            </a:r>
            <a:r>
              <a:rPr lang="en-US" sz="3200" dirty="0" err="1"/>
              <a:t>os</a:t>
            </a:r>
            <a:r>
              <a:rPr lang="en-US" sz="3200" dirty="0"/>
              <a:t> </a:t>
            </a:r>
            <a:r>
              <a:rPr lang="en-US" sz="3200" dirty="0" err="1"/>
              <a:t>acessos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Tabelas</a:t>
            </a:r>
            <a:r>
              <a:rPr lang="en-US" sz="3200" dirty="0"/>
              <a:t> </a:t>
            </a:r>
            <a:r>
              <a:rPr lang="en-US" sz="3200" dirty="0" err="1"/>
              <a:t>interativas</a:t>
            </a:r>
            <a:r>
              <a:rPr lang="en-US" sz="3200" dirty="0"/>
              <a:t> e </a:t>
            </a:r>
            <a:r>
              <a:rPr lang="en-US" sz="3200" dirty="0" err="1"/>
              <a:t>atualizadas</a:t>
            </a:r>
            <a:r>
              <a:rPr lang="en-US" sz="3200" dirty="0"/>
              <a:t> </a:t>
            </a:r>
            <a:r>
              <a:rPr lang="en-US" sz="3200" dirty="0" err="1"/>
              <a:t>em</a:t>
            </a:r>
            <a:r>
              <a:rPr lang="en-US" sz="3200" dirty="0"/>
              <a:t> tempo real.</a:t>
            </a:r>
          </a:p>
        </p:txBody>
      </p:sp>
    </p:spTree>
    <p:extLst>
      <p:ext uri="{BB962C8B-B14F-4D97-AF65-F5344CB8AC3E}">
        <p14:creationId xmlns:p14="http://schemas.microsoft.com/office/powerpoint/2010/main" val="334951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7D730-DE39-EF56-B611-1740AFC7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82356E9A-66F6-FBE2-5553-25C154FF5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496449-946A-088D-914E-6FFCAF7B9206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DB629B-7B94-CDD4-4637-061AA91F806D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841558-9860-920C-F969-8DCD1CF83432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1FB3A9-71E1-07CF-81F9-4EFBEF6775B9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3 – Dashboards e </a:t>
            </a:r>
            <a:r>
              <a:rPr lang="en-US" sz="4000" b="1" dirty="0" err="1"/>
              <a:t>Otimização</a:t>
            </a:r>
            <a:endParaRPr lang="en-US" sz="4000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A804DB5-D7F9-A516-49F1-2D34B24F7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39" y="1781174"/>
            <a:ext cx="41814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6620D052-0466-0301-2200-B16415BA5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40" y="3538964"/>
            <a:ext cx="4233932" cy="126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13D5E344-59C1-99B5-4A8C-0C1332BDB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64" y="5038809"/>
            <a:ext cx="413385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CA5C58CC-E4F6-39F1-B2E2-2C65C9F15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128" y="1856882"/>
            <a:ext cx="5895561" cy="211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D02D3313-B9BD-AE7C-4D93-A940CD7BF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586" y="4111264"/>
            <a:ext cx="573405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576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4AE5A-951C-92B8-77CA-CD23BF16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FA28D5DA-FD40-6710-2068-81491BA42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EB9D34-78DA-803B-0495-B1ADE35D5699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F077F4-CCA1-1BE4-DE79-DAD215FAB952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E1F578-8BD5-A92D-2E59-3B1643F28B54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788AC-C92F-927B-916B-E7D8E0F685A8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3 – Dashboards e </a:t>
            </a:r>
            <a:r>
              <a:rPr lang="en-US" sz="4000" b="1" dirty="0" err="1"/>
              <a:t>Otimização</a:t>
            </a:r>
            <a:endParaRPr lang="en-US" sz="4000" b="1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C5E8183-19F9-33B8-82E4-D9C5B2474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992" y="1846923"/>
            <a:ext cx="43719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6305FD43-E552-FA9D-DBF8-038E65F20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151" y="1846923"/>
            <a:ext cx="2699093" cy="223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43AFB7FD-27F7-2180-564C-A555980FC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348" y="4211592"/>
            <a:ext cx="6799303" cy="236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337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9811D-FEF1-0D9E-7043-F7A5EBBDB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3429AEC9-2235-0F01-147F-551BC20F0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F5C1D8-7565-0034-10F7-273744FC0067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FEA62D-E465-0F60-049E-16536A523D76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5C90ED-98D8-62AB-5BB5-84B4C0D6A3B9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36E03-F068-F5D2-B4E7-98DF6CE25749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3 – Dashboards e </a:t>
            </a:r>
            <a:r>
              <a:rPr lang="en-US" sz="4000" b="1" dirty="0" err="1"/>
              <a:t>Otimização</a:t>
            </a:r>
            <a:endParaRPr lang="en-US" sz="4000" b="1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CF75D2F-FF6C-B644-D64D-F8D84DB0A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413" y="1752063"/>
            <a:ext cx="3824758" cy="262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8599FEE6-0108-CC1E-BEEF-862A759A8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990" y="4643719"/>
            <a:ext cx="9251604" cy="153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5446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B450A-482B-9969-67B4-48B51289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5A14505B-A228-0411-3DA3-BE343DE57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EC0C1A-9598-4EBF-377D-3582C2638E73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D479EE-A84C-02D2-27F4-EF5351422771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EE94C9-395A-9D3F-D6EF-250E68C2C6F0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ACE2B-A613-14EA-20BE-82852E242197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4 – </a:t>
            </a:r>
            <a:r>
              <a:rPr lang="en-US" sz="4000" b="1" dirty="0" err="1"/>
              <a:t>Alerta</a:t>
            </a:r>
            <a:r>
              <a:rPr lang="en-US" sz="4000" b="1" dirty="0"/>
              <a:t> de </a:t>
            </a:r>
            <a:r>
              <a:rPr lang="en-US" sz="4000" b="1" dirty="0" err="1"/>
              <a:t>Força</a:t>
            </a:r>
            <a:r>
              <a:rPr lang="en-US" sz="4000" b="1" dirty="0"/>
              <a:t> Bruta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19C78-3B35-1FCF-D50C-161E589F72A2}"/>
              </a:ext>
            </a:extLst>
          </p:cNvPr>
          <p:cNvSpPr txBox="1"/>
          <p:nvPr/>
        </p:nvSpPr>
        <p:spPr>
          <a:xfrm>
            <a:off x="403339" y="1862783"/>
            <a:ext cx="111896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Alerta</a:t>
            </a:r>
            <a:r>
              <a:rPr lang="en-US" sz="3200" dirty="0"/>
              <a:t>: &gt;5 </a:t>
            </a:r>
            <a:r>
              <a:rPr lang="en-US" sz="3200" dirty="0" err="1"/>
              <a:t>falhas</a:t>
            </a:r>
            <a:r>
              <a:rPr lang="en-US" sz="3200" dirty="0"/>
              <a:t> </a:t>
            </a:r>
            <a:r>
              <a:rPr lang="en-US" sz="3200" dirty="0" err="1"/>
              <a:t>deautenticação</a:t>
            </a:r>
            <a:r>
              <a:rPr lang="en-US" sz="3200" dirty="0"/>
              <a:t> </a:t>
            </a:r>
            <a:r>
              <a:rPr lang="en-US" sz="3200" dirty="0" err="1"/>
              <a:t>em</a:t>
            </a:r>
            <a:r>
              <a:rPr lang="en-US" sz="3200" dirty="0"/>
              <a:t> 15 </a:t>
            </a:r>
            <a:r>
              <a:rPr lang="en-US" sz="3200" dirty="0" err="1"/>
              <a:t>minutos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Ataque</a:t>
            </a:r>
            <a:r>
              <a:rPr lang="en-US" sz="3200" dirty="0"/>
              <a:t> </a:t>
            </a:r>
            <a:r>
              <a:rPr lang="en-US" sz="3200" dirty="0" err="1"/>
              <a:t>simulado</a:t>
            </a:r>
            <a:r>
              <a:rPr lang="en-US" sz="3200" dirty="0"/>
              <a:t> com a ferramenta Hydra do Kali Linux via HTTP (SSH </a:t>
            </a:r>
            <a:r>
              <a:rPr lang="en-US" sz="3200" dirty="0" err="1"/>
              <a:t>incompatível</a:t>
            </a:r>
            <a:r>
              <a:rPr lang="en-US" sz="3200" dirty="0"/>
              <a:t> com o Router).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Trigger alert </a:t>
            </a:r>
            <a:r>
              <a:rPr lang="en-US" sz="3200" dirty="0" err="1"/>
              <a:t>configurado</a:t>
            </a:r>
            <a:r>
              <a:rPr lang="en-US" sz="3200" dirty="0"/>
              <a:t> e </a:t>
            </a:r>
            <a:r>
              <a:rPr lang="en-US" sz="3200" dirty="0" err="1"/>
              <a:t>gerado</a:t>
            </a:r>
            <a:r>
              <a:rPr lang="en-US" sz="3200" dirty="0"/>
              <a:t> com </a:t>
            </a:r>
            <a:r>
              <a:rPr lang="en-US" sz="3200" dirty="0" err="1"/>
              <a:t>sucesso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Frequência</a:t>
            </a:r>
            <a:r>
              <a:rPr lang="en-US" sz="3200" dirty="0"/>
              <a:t> de </a:t>
            </a:r>
            <a:r>
              <a:rPr lang="en-US" sz="3200" dirty="0" err="1"/>
              <a:t>verificação</a:t>
            </a:r>
            <a:r>
              <a:rPr lang="en-US" sz="3200" dirty="0"/>
              <a:t> </a:t>
            </a:r>
            <a:r>
              <a:rPr lang="en-US" sz="3200" dirty="0" err="1"/>
              <a:t>ajustada</a:t>
            </a:r>
            <a:r>
              <a:rPr lang="en-US" sz="3200" dirty="0"/>
              <a:t> </a:t>
            </a:r>
            <a:r>
              <a:rPr lang="en-US" sz="3200" dirty="0" err="1"/>
              <a:t>manualmente</a:t>
            </a:r>
            <a:r>
              <a:rPr lang="en-US" sz="3200" dirty="0"/>
              <a:t> (5min).</a:t>
            </a:r>
          </a:p>
        </p:txBody>
      </p:sp>
    </p:spTree>
    <p:extLst>
      <p:ext uri="{BB962C8B-B14F-4D97-AF65-F5344CB8AC3E}">
        <p14:creationId xmlns:p14="http://schemas.microsoft.com/office/powerpoint/2010/main" val="743191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58A67-AD08-41AB-3AF2-077F8361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D2BC330C-2066-7849-5CD8-76FAC25C6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2D3760-2F13-6C9D-4045-B0D93A8F972C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70BEFF-E8A7-69C6-3FB2-95E785125AA8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C77E0F-6794-0E0D-E06C-5EFC1244F9E3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90890B-6EA4-5F64-2799-B8CF5FD21F09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4 – </a:t>
            </a:r>
            <a:r>
              <a:rPr lang="en-US" sz="4000" b="1" dirty="0" err="1"/>
              <a:t>Alerta</a:t>
            </a:r>
            <a:r>
              <a:rPr lang="en-US" sz="4000" b="1" dirty="0"/>
              <a:t> de </a:t>
            </a:r>
            <a:r>
              <a:rPr lang="en-US" sz="4000" b="1" dirty="0" err="1"/>
              <a:t>Força</a:t>
            </a:r>
            <a:r>
              <a:rPr lang="en-US" sz="4000" b="1" dirty="0"/>
              <a:t> Bruta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B0A3227-4D2A-3BE6-9BA5-794ABFD93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333" y="1797353"/>
            <a:ext cx="8740249" cy="225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5E9A2BE0-7AD0-2708-C7F8-EB571C1D3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35" y="4171129"/>
            <a:ext cx="395287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82A3E29B-96D1-ABD2-6156-EE35B4D4E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517" y="4171130"/>
            <a:ext cx="6775573" cy="203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112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C7BBB-FCDB-E95D-6257-7712CC88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09836971-423C-E7CB-F40E-88EC739D4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A93C96-1E70-F1E9-74D5-55C2CAD4D0FC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5D78EC-2B45-6CBF-B75C-6119DA6B7717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1D7A5E-1184-6A54-14A3-BCDA1548A074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B6E01-408F-C6AD-B3EC-97463B7F1642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4 – </a:t>
            </a:r>
            <a:r>
              <a:rPr lang="en-US" sz="4000" b="1" dirty="0" err="1"/>
              <a:t>Alerta</a:t>
            </a:r>
            <a:r>
              <a:rPr lang="en-US" sz="4000" b="1" dirty="0"/>
              <a:t> de </a:t>
            </a:r>
            <a:r>
              <a:rPr lang="en-US" sz="4000" b="1" dirty="0" err="1"/>
              <a:t>Força</a:t>
            </a:r>
            <a:r>
              <a:rPr lang="en-US" sz="4000" b="1" dirty="0"/>
              <a:t> Bruta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D192B74-5AE1-E812-AD0E-80EEF7AAC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77" y="1913472"/>
            <a:ext cx="2675718" cy="247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085FBA34-BB8C-0040-2C86-8EBE0E3B1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99" y="4630439"/>
            <a:ext cx="2752873" cy="178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2A885E2D-87A7-A760-1A3F-E6695BB8F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321" y="2109084"/>
            <a:ext cx="5943600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F027ED40-A976-BE96-3681-6BD17900D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920" y="4213225"/>
            <a:ext cx="8166402" cy="217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551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8E77A-EC4A-3E33-EA8E-8C34DA322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625B29B9-62C2-B153-273B-3A8DD3439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F7E518-F38E-DAEA-3B05-623861D4156A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B35ECD-C879-25C0-67D1-98586E9F8157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3F41AA-E170-011B-4EE4-996FE51369C5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06A17-AB26-9ACE-EC6E-A0476A7D2AB9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Experiência</a:t>
            </a:r>
            <a:r>
              <a:rPr lang="en-US" sz="4000" b="1" dirty="0"/>
              <a:t> 4 – </a:t>
            </a:r>
            <a:r>
              <a:rPr lang="en-US" sz="4000" b="1" dirty="0" err="1"/>
              <a:t>Alerta</a:t>
            </a:r>
            <a:r>
              <a:rPr lang="en-US" sz="4000" b="1" dirty="0"/>
              <a:t> de </a:t>
            </a:r>
            <a:r>
              <a:rPr lang="en-US" sz="4000" b="1" dirty="0" err="1"/>
              <a:t>Força</a:t>
            </a:r>
            <a:r>
              <a:rPr lang="en-US" sz="4000" b="1" dirty="0"/>
              <a:t> Bruta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CF1A33D-717F-B609-C263-B218EEBCB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21" y="1816847"/>
            <a:ext cx="8471342" cy="2377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45DA62AE-7CAE-8121-D1D9-439D7E808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21" y="4369570"/>
            <a:ext cx="8457570" cy="2128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354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310F8F-E11C-5363-0796-9E916D4FC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letter on a black background">
            <a:extLst>
              <a:ext uri="{FF2B5EF4-FFF2-40B4-BE49-F238E27FC236}">
                <a16:creationId xmlns:a16="http://schemas.microsoft.com/office/drawing/2014/main" id="{41231B6C-81BF-B49D-7974-9D2997163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2" y="1913473"/>
            <a:ext cx="10277475" cy="30310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0400874-5638-C6E7-1129-AC9E40B704BA}"/>
              </a:ext>
            </a:extLst>
          </p:cNvPr>
          <p:cNvSpPr/>
          <p:nvPr/>
        </p:nvSpPr>
        <p:spPr>
          <a:xfrm>
            <a:off x="274948" y="245096"/>
            <a:ext cx="11642103" cy="6174557"/>
          </a:xfrm>
          <a:prstGeom prst="rect">
            <a:avLst/>
          </a:prstGeom>
          <a:solidFill>
            <a:schemeClr val="bg2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2F243-1431-FDDD-6522-F62C1444BAA9}"/>
              </a:ext>
            </a:extLst>
          </p:cNvPr>
          <p:cNvSpPr/>
          <p:nvPr/>
        </p:nvSpPr>
        <p:spPr>
          <a:xfrm>
            <a:off x="274948" y="245097"/>
            <a:ext cx="11555690" cy="1159497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694856-A9E9-F2FE-65DF-0F40713DA6A0}"/>
              </a:ext>
            </a:extLst>
          </p:cNvPr>
          <p:cNvSpPr/>
          <p:nvPr/>
        </p:nvSpPr>
        <p:spPr>
          <a:xfrm>
            <a:off x="274947" y="1641835"/>
            <a:ext cx="11555691" cy="4971068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79948-BA7F-6288-9D17-0055BC7E2A7B}"/>
              </a:ext>
            </a:extLst>
          </p:cNvPr>
          <p:cNvSpPr txBox="1"/>
          <p:nvPr/>
        </p:nvSpPr>
        <p:spPr>
          <a:xfrm>
            <a:off x="403339" y="470902"/>
            <a:ext cx="10831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Conclusões</a:t>
            </a:r>
            <a:endParaRPr lang="en-US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38E02-E4A1-C6A7-E322-7CB711DB5145}"/>
              </a:ext>
            </a:extLst>
          </p:cNvPr>
          <p:cNvSpPr txBox="1"/>
          <p:nvPr/>
        </p:nvSpPr>
        <p:spPr>
          <a:xfrm>
            <a:off x="403339" y="1640136"/>
            <a:ext cx="1118961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 Splunk é </a:t>
            </a:r>
            <a:r>
              <a:rPr lang="en-US" sz="3200" dirty="0" err="1"/>
              <a:t>eficaz</a:t>
            </a:r>
            <a:r>
              <a:rPr lang="en-US" sz="3200" dirty="0"/>
              <a:t> </a:t>
            </a:r>
            <a:r>
              <a:rPr lang="en-US" sz="3200" dirty="0" err="1"/>
              <a:t>na</a:t>
            </a:r>
            <a:r>
              <a:rPr lang="en-US" sz="3200" dirty="0"/>
              <a:t> </a:t>
            </a:r>
            <a:r>
              <a:rPr lang="en-US" sz="3200" dirty="0" err="1"/>
              <a:t>recolha</a:t>
            </a:r>
            <a:r>
              <a:rPr lang="en-US" sz="3200" dirty="0"/>
              <a:t> e </a:t>
            </a:r>
            <a:r>
              <a:rPr lang="en-US" sz="3200" dirty="0" err="1"/>
              <a:t>análise</a:t>
            </a:r>
            <a:r>
              <a:rPr lang="en-US" sz="3200" dirty="0"/>
              <a:t> de dados de logs.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Permite</a:t>
            </a:r>
            <a:r>
              <a:rPr lang="en-US" sz="3200" dirty="0"/>
              <a:t> </a:t>
            </a:r>
            <a:r>
              <a:rPr lang="en-US" sz="3200" dirty="0" err="1"/>
              <a:t>uma</a:t>
            </a:r>
            <a:r>
              <a:rPr lang="en-US" sz="3200" dirty="0"/>
              <a:t> </a:t>
            </a:r>
            <a:r>
              <a:rPr lang="en-US" sz="3200" dirty="0" err="1"/>
              <a:t>visualização</a:t>
            </a:r>
            <a:r>
              <a:rPr lang="en-US" sz="3200" dirty="0"/>
              <a:t> </a:t>
            </a:r>
            <a:r>
              <a:rPr lang="en-US" sz="3200" dirty="0" err="1"/>
              <a:t>clara</a:t>
            </a:r>
            <a:r>
              <a:rPr lang="en-US" sz="3200" dirty="0"/>
              <a:t> e </a:t>
            </a:r>
            <a:r>
              <a:rPr lang="en-US" sz="3200" dirty="0" err="1"/>
              <a:t>resposta</a:t>
            </a:r>
            <a:r>
              <a:rPr lang="en-US" sz="3200" dirty="0"/>
              <a:t> </a:t>
            </a:r>
            <a:r>
              <a:rPr lang="en-US" sz="3200" dirty="0" err="1"/>
              <a:t>imediata</a:t>
            </a:r>
            <a:r>
              <a:rPr lang="en-US" sz="3200" dirty="0"/>
              <a:t> a </a:t>
            </a:r>
            <a:r>
              <a:rPr lang="en-US" sz="3200" dirty="0" err="1"/>
              <a:t>incidentes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 </a:t>
            </a:r>
            <a:r>
              <a:rPr lang="en-US" sz="3200" dirty="0" err="1"/>
              <a:t>ambiente</a:t>
            </a:r>
            <a:r>
              <a:rPr lang="en-US" sz="3200" dirty="0"/>
              <a:t> </a:t>
            </a:r>
            <a:r>
              <a:rPr lang="en-US" sz="3200" dirty="0" err="1"/>
              <a:t>realista</a:t>
            </a:r>
            <a:r>
              <a:rPr lang="en-US" sz="3200" dirty="0"/>
              <a:t> </a:t>
            </a:r>
            <a:r>
              <a:rPr lang="en-US" sz="3200" dirty="0" err="1"/>
              <a:t>facilitou</a:t>
            </a:r>
            <a:r>
              <a:rPr lang="en-US" sz="3200" dirty="0"/>
              <a:t> a </a:t>
            </a:r>
            <a:r>
              <a:rPr lang="en-US" sz="3200" dirty="0" err="1"/>
              <a:t>simulação</a:t>
            </a:r>
            <a:r>
              <a:rPr lang="en-US" sz="3200" dirty="0"/>
              <a:t> de </a:t>
            </a:r>
            <a:r>
              <a:rPr lang="en-US" sz="3200" dirty="0" err="1"/>
              <a:t>ataques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No </a:t>
            </a:r>
            <a:r>
              <a:rPr lang="en-US" sz="3200" dirty="0" err="1"/>
              <a:t>projeto</a:t>
            </a:r>
            <a:r>
              <a:rPr lang="en-US" sz="3200" dirty="0"/>
              <a:t> </a:t>
            </a:r>
            <a:r>
              <a:rPr lang="en-US" sz="3200" dirty="0" err="1"/>
              <a:t>aplicámos</a:t>
            </a:r>
            <a:r>
              <a:rPr lang="en-US" sz="3200" dirty="0"/>
              <a:t> a Teoria </a:t>
            </a:r>
            <a:r>
              <a:rPr lang="en-US" sz="3200" dirty="0" err="1"/>
              <a:t>na</a:t>
            </a:r>
            <a:r>
              <a:rPr lang="en-US" sz="3200" dirty="0"/>
              <a:t> </a:t>
            </a:r>
            <a:r>
              <a:rPr lang="en-US" sz="3200" dirty="0" err="1"/>
              <a:t>prática</a:t>
            </a:r>
            <a:r>
              <a:rPr lang="en-US" sz="3200" dirty="0"/>
              <a:t> com </a:t>
            </a:r>
            <a:r>
              <a:rPr lang="en-US" sz="3200" dirty="0" err="1"/>
              <a:t>sucesso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379357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192</TotalTime>
  <Words>505</Words>
  <Application>Microsoft Office PowerPoint</Application>
  <PresentationFormat>Ecrã Panorâmico</PresentationFormat>
  <Paragraphs>89</Paragraphs>
  <Slides>21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21</vt:i4>
      </vt:variant>
    </vt:vector>
  </HeadingPairs>
  <TitlesOfParts>
    <vt:vector size="26" baseType="lpstr">
      <vt:lpstr>Aptos</vt:lpstr>
      <vt:lpstr>Arial</vt:lpstr>
      <vt:lpstr>Century Gothic</vt:lpstr>
      <vt:lpstr>Wingdings 3</vt:lpstr>
      <vt:lpstr>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Duarte Jorge Ferreira Rodrigues</dc:creator>
  <cp:lastModifiedBy>Diogo Coutinho Amor Antunes</cp:lastModifiedBy>
  <cp:revision>4</cp:revision>
  <dcterms:created xsi:type="dcterms:W3CDTF">2025-06-03T20:42:20Z</dcterms:created>
  <dcterms:modified xsi:type="dcterms:W3CDTF">2025-06-06T13:04:51Z</dcterms:modified>
</cp:coreProperties>
</file>